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640080"/>
            <a:ext cx="1920240" cy="1920240"/>
          </a:xfrm>
          <a:prstGeom prst="ellipse">
            <a:avLst/>
          </a:prstGeom>
          <a:solidFill>
            <a:srgbClr val="2B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38360" y="2057400"/>
            <a:ext cx="1325880" cy="1325880"/>
          </a:xfrm>
          <a:prstGeom prst="ellipse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58200" y="2834640"/>
            <a:ext cx="685800" cy="68580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786384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600" b="1">
                <a:solidFill>
                  <a:srgbClr val="34D3DC"/>
                </a:solidFill>
                <a:latin typeface="Aptos"/>
              </a:rPr>
              <a:t>VOICEGUARD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83080"/>
            <a:ext cx="7955279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AI Voice Clone Detector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697480"/>
            <a:ext cx="685800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0">
                <a:solidFill>
                  <a:srgbClr val="B8C5DC"/>
                </a:solidFill>
                <a:latin typeface="Aptos"/>
              </a:rPr>
              <a:t>Helping people spot potentially AI-generated or cloned voices before they trust what they hear.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3886200"/>
            <a:ext cx="2331720" cy="438912"/>
          </a:xfrm>
          <a:prstGeom prst="roundRect">
            <a:avLst/>
          </a:prstGeom>
          <a:solidFill>
            <a:srgbClr val="182745"/>
          </a:solidFill>
          <a:ln>
            <a:solidFill>
              <a:srgbClr val="2B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986784"/>
            <a:ext cx="2057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1">
                <a:solidFill>
                  <a:srgbClr val="34D3DC"/>
                </a:solidFill>
                <a:latin typeface="Aptos"/>
              </a:rPr>
              <a:t>HACKATHON PROJECT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754880"/>
            <a:ext cx="45720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00" b="1">
                <a:solidFill>
                  <a:srgbClr val="F5F8FF"/>
                </a:solidFill>
                <a:latin typeface="Aptos"/>
              </a:rPr>
              <a:t>Team Neural Ninjas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230368"/>
            <a:ext cx="76809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B8C5DC"/>
                </a:solidFill>
                <a:latin typeface="Aptos"/>
              </a:rPr>
              <a:t>Lucky Bhatt  •  Ranjana Dosad  •  Diya Dobal
Disha Manral Manral Manral  •  Priyanshu Ruwali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6236208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B8C5DC"/>
                </a:solidFill>
                <a:latin typeface="Aptos"/>
              </a:rPr>
              <a:t>Kritikal Hacks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4300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A familiar voice is no longer proof of identity.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B8C5DC"/>
                </a:solidFill>
                <a:latin typeface="Aptos"/>
              </a:rPr>
              <a:t>02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474720" cy="1874519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64008" cy="1874519"/>
          </a:xfrm>
          <a:prstGeom prst="rect">
            <a:avLst/>
          </a:prstGeom>
          <a:solidFill>
            <a:srgbClr val="2B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30906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Voice-cloning scams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6312"/>
            <a:ext cx="3090672" cy="11247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AI-generated speech can imitate a person and make fraudulent calls sound convincing.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74519"/>
            <a:ext cx="3474720" cy="1874519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874519"/>
            <a:ext cx="64008" cy="1874519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39112"/>
            <a:ext cx="30906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Fast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96312"/>
            <a:ext cx="3090672" cy="11247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People may be pressured to act quickly before they can verify a caller.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474720" cy="1874519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74519"/>
            <a:ext cx="64008" cy="1874519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039112"/>
            <a:ext cx="30906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Hard to judge by 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96312"/>
            <a:ext cx="3090672" cy="11247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Synthetic audio can sound natural, especially over phone-quality connections.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343400"/>
            <a:ext cx="1828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34D3DC"/>
                </a:solidFill>
                <a:latin typeface="Aptos"/>
              </a:rPr>
              <a:t>The need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773168"/>
            <a:ext cx="996696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F5F8FF"/>
                </a:solidFill>
                <a:latin typeface="Aptos"/>
              </a:rPr>
              <a:t>A simple tool that gives users an evidence-based warning when audio may be synthetic—without pretending to be 100% certain.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4300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VoiceGuard AI: an audio screening assistant, not a final identity verdict.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B8C5DC"/>
                </a:solidFill>
                <a:latin typeface="Aptos"/>
              </a:rP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22860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34D3DC"/>
                </a:solidFill>
                <a:latin typeface="Aptos"/>
              </a:rPr>
              <a:t>HOW IT WORKS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2B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D183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2514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Upload / capture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46888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User provides a permitted audio sample.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2551176"/>
            <a:ext cx="2057400" cy="32004"/>
          </a:xfrm>
          <a:prstGeom prst="rect">
            <a:avLst/>
          </a:prstGeom>
          <a:solidFill>
            <a:srgbClr val="44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84448" y="2331720"/>
            <a:ext cx="502920" cy="502920"/>
          </a:xfrm>
          <a:prstGeom prst="ellipse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46888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D183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063240"/>
            <a:ext cx="2514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Analyze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566160"/>
            <a:ext cx="246888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Audio is prepared into short segments and features.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8808" y="2551176"/>
            <a:ext cx="2057400" cy="32004"/>
          </a:xfrm>
          <a:prstGeom prst="rect">
            <a:avLst/>
          </a:prstGeom>
          <a:solidFill>
            <a:srgbClr val="44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37376" y="2331720"/>
            <a:ext cx="502920" cy="502920"/>
          </a:xfrm>
          <a:prstGeom prst="ellipse">
            <a:avLst/>
          </a:prstGeom>
          <a:solidFill>
            <a:srgbClr val="2B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246888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D1830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063240"/>
            <a:ext cx="2514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Model estimates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566160"/>
            <a:ext cx="246888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A trained detector estimates real vs synthetic likelihood.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31736" y="2551176"/>
            <a:ext cx="2057400" cy="32004"/>
          </a:xfrm>
          <a:prstGeom prst="rect">
            <a:avLst/>
          </a:prstGeom>
          <a:solidFill>
            <a:srgbClr val="44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0304" y="2331720"/>
            <a:ext cx="502920" cy="502920"/>
          </a:xfrm>
          <a:prstGeom prst="ellipse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0304" y="246888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D1830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063240"/>
            <a:ext cx="2514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Show clear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3566160"/>
            <a:ext cx="246888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User sees a confidence score and a cautious explanation.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66360"/>
            <a:ext cx="106070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4ADE80"/>
                </a:solidFill>
                <a:latin typeface="Aptos"/>
              </a:rPr>
              <a:t>Output example: “Potentially synthetic audio — medium confidence. Verify through another channel.”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4300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Designed for clarity, caution, and responsible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B8C5DC"/>
                </a:solidFill>
                <a:latin typeface="Aptos"/>
              </a:rPr>
              <a:t>04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150876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64008" cy="1508760"/>
          </a:xfrm>
          <a:prstGeom prst="rect">
            <a:avLst/>
          </a:prstGeom>
          <a:solidFill>
            <a:srgbClr val="2B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30906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Detection estimate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2"/>
            <a:ext cx="3090672" cy="7589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A model-generated estimate of real vs synthetic audio.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74720" cy="150876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828800"/>
            <a:ext cx="64008" cy="1508760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0906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Confidence indicator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50592"/>
            <a:ext cx="3090672" cy="7589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Communicates uncertainty rather than a guaranteed verdict.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74720" cy="150876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64008" cy="150876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93392"/>
            <a:ext cx="30906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Simple visual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50592"/>
            <a:ext cx="3090672" cy="7589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Easy-to-read status, score, and next-step guidance.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3474720" cy="150876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657600"/>
            <a:ext cx="64008" cy="15087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822191"/>
            <a:ext cx="30906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Privacy-first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279392"/>
            <a:ext cx="3090672" cy="7589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Process only audio the user is allowed to analyze; minimize storage.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657600"/>
            <a:ext cx="3474720" cy="150876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2" y="3657600"/>
            <a:ext cx="64008" cy="1508760"/>
          </a:xfrm>
          <a:prstGeom prst="rect">
            <a:avLst/>
          </a:prstGeom>
          <a:solidFill>
            <a:srgbClr val="2B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822191"/>
            <a:ext cx="30906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Verification tips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79392"/>
            <a:ext cx="3090672" cy="7589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Encourage callbacks or trusted alternate channels for important requests.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657600"/>
            <a:ext cx="3474720" cy="150876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657600"/>
            <a:ext cx="64008" cy="1508760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822191"/>
            <a:ext cx="30906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Optional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279392"/>
            <a:ext cx="3090672" cy="7589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If implemented, let users control whether results are saved.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Technical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4300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A practical prototype can be built with widely used open-source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B8C5DC"/>
                </a:solidFill>
                <a:latin typeface="Aptos"/>
              </a:rPr>
              <a:t>05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123444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4008" cy="1234440"/>
          </a:xfrm>
          <a:prstGeom prst="rect">
            <a:avLst/>
          </a:prstGeom>
          <a:solidFill>
            <a:srgbClr val="2B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487375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Audio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50592"/>
            <a:ext cx="4873752" cy="4846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Python • Librosa / SoundFile • resampling, normalization, short audio windows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57800" cy="123444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64008" cy="1234440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93392"/>
            <a:ext cx="487375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Detection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450592"/>
            <a:ext cx="4873752" cy="4846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PyTorch or TensorFlow • pretrained audio model • fine-tuning/evaluation on labeled real and synthetic samples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5257800" cy="123444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429000"/>
            <a:ext cx="64008" cy="123444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593592"/>
            <a:ext cx="487375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API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50791"/>
            <a:ext cx="4873752" cy="4846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FastAPI or Flask • accept audio input • return score and model version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5257800" cy="123444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29000"/>
            <a:ext cx="64008" cy="1234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593592"/>
            <a:ext cx="487375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User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050791"/>
            <a:ext cx="4873752" cy="4846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HTML / CSS / JavaScript • upload control • result card • safety 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66360"/>
            <a:ext cx="20116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34D3DC"/>
                </a:solidFill>
                <a:latin typeface="Aptos"/>
              </a:rPr>
              <a:t>Evaluation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42416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Test on voices, accents, recording devices, compression, and unseen generators. A demo score is not proof of real-world reliability.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Prototype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4300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Proposed workflow for the hackathon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B8C5DC"/>
                </a:solidFill>
                <a:latin typeface="Aptos"/>
              </a:rPr>
              <a:t>06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23160"/>
            <a:ext cx="2148840" cy="150876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423160"/>
            <a:ext cx="64008" cy="1508760"/>
          </a:xfrm>
          <a:prstGeom prst="rect">
            <a:avLst/>
          </a:prstGeom>
          <a:solidFill>
            <a:srgbClr val="2B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587752"/>
            <a:ext cx="176479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Audio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044952"/>
            <a:ext cx="1764792" cy="7589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WAV / supported clip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98648" y="2944368"/>
            <a:ext cx="530352" cy="320040"/>
          </a:xfrm>
          <a:prstGeom prst="rightArrow">
            <a:avLst/>
          </a:prstGeom>
          <a:solidFill>
            <a:srgbClr val="B8C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2423160"/>
            <a:ext cx="2148840" cy="150876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423160"/>
            <a:ext cx="64008" cy="1508760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2587752"/>
            <a:ext cx="176479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3044952"/>
            <a:ext cx="1764792" cy="7589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Clean, segment, extract features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79008" y="2944368"/>
            <a:ext cx="530352" cy="320040"/>
          </a:xfrm>
          <a:prstGeom prst="rightArrow">
            <a:avLst/>
          </a:prstGeom>
          <a:solidFill>
            <a:srgbClr val="B8C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2423160"/>
            <a:ext cx="2148840" cy="150876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2423160"/>
            <a:ext cx="64008" cy="150876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587752"/>
            <a:ext cx="176479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Classifier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3044952"/>
            <a:ext cx="1764792" cy="7589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Real vs synthetic estimate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59367" y="2944368"/>
            <a:ext cx="530352" cy="320040"/>
          </a:xfrm>
          <a:prstGeom prst="rightArrow">
            <a:avLst/>
          </a:prstGeom>
          <a:solidFill>
            <a:srgbClr val="B8C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26880" y="2423160"/>
            <a:ext cx="2148840" cy="150876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2423160"/>
            <a:ext cx="64008" cy="15087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8048" y="2587752"/>
            <a:ext cx="176479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Result screen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3044952"/>
            <a:ext cx="1764792" cy="7589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Score + limitations + advice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17720"/>
            <a:ext cx="18288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34D3DC"/>
                </a:solidFill>
                <a:latin typeface="Aptos"/>
              </a:rPr>
              <a:t>Possible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10912"/>
            <a:ext cx="10424160" cy="12344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 Upload a sample audio clip.</a:t>
            </a:r>
          </a:p>
          <a:p>
            <a:pPr>
              <a:spcAft>
                <a:spcPts val="8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 Show a model score and a plain-language interpretation.</a:t>
            </a:r>
          </a:p>
          <a:p>
            <a:pPr>
              <a:spcAft>
                <a:spcPts val="8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 Display a reminder to verify urgent requests independently.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Responsible Design &amp; Expected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4300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The detector supports judgment; it does not replace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B8C5DC"/>
                </a:solidFill>
                <a:latin typeface="Aptos"/>
              </a:rPr>
              <a:t>07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141732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4008" cy="141732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487375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50592"/>
            <a:ext cx="4873752" cy="6675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False positives and false negatives are possible. New voice-generation systems may evade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57800" cy="141732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64008" cy="1417320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93392"/>
            <a:ext cx="487375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450592"/>
            <a:ext cx="4873752" cy="6675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Use consented samples, avoid unnecessary retention, and clearly explain how audio is handled.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257800" cy="141732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64008" cy="14173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822191"/>
            <a:ext cx="487375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Safe user guidance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279392"/>
            <a:ext cx="4873752" cy="6675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For money, emergencies, or sensitive requests, independently contact the person using a known number.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257800" cy="141732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64008" cy="1417320"/>
          </a:xfrm>
          <a:prstGeom prst="rect">
            <a:avLst/>
          </a:prstGeom>
          <a:solidFill>
            <a:srgbClr val="2B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822191"/>
            <a:ext cx="487375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Potential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279392"/>
            <a:ext cx="4873752" cy="6675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Could raise awareness of voice-cloning risks and add a useful check to digital safety workflows.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23560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00" b="1">
                <a:solidFill>
                  <a:srgbClr val="F5F8FF"/>
                </a:solidFill>
                <a:latin typeface="Aptos"/>
              </a:rPr>
              <a:t>Success means better-informed users—not perfect detection.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Team Neural Ninjas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143000" cy="50292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Kritikal Hacks 2026 • VoiceGuard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B8C5DC"/>
                </a:solidFill>
                <a:latin typeface="Aptos"/>
              </a:rPr>
              <a:t>08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828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34D3DC"/>
                </a:solidFill>
                <a:latin typeface="Aptos"/>
              </a:rPr>
              <a:t>OUR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3337560" cy="77724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64008" cy="777240"/>
          </a:xfrm>
          <a:prstGeom prst="rect">
            <a:avLst/>
          </a:prstGeom>
          <a:solidFill>
            <a:srgbClr val="2B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404872"/>
            <a:ext cx="295351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Lucky Bhatt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862072"/>
            <a:ext cx="2953512" cy="274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Team Lead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240280"/>
            <a:ext cx="3337560" cy="77724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240280"/>
            <a:ext cx="64008" cy="777240"/>
          </a:xfrm>
          <a:prstGeom prst="rect">
            <a:avLst/>
          </a:prstGeom>
          <a:solidFill>
            <a:srgbClr val="34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7" y="2404872"/>
            <a:ext cx="295351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Ranjana Dosad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2862072"/>
            <a:ext cx="2953512" cy="274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Team Member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240280"/>
            <a:ext cx="3337560" cy="77724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2240280"/>
            <a:ext cx="64008" cy="77724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2404872"/>
            <a:ext cx="295351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Diya Dobal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862072"/>
            <a:ext cx="2953512" cy="274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Team Member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46120"/>
            <a:ext cx="3337560" cy="77724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246120"/>
            <a:ext cx="64008" cy="7772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410712"/>
            <a:ext cx="295351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Disha Manral Manral Manral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867912"/>
            <a:ext cx="2953512" cy="274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Team Member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246120"/>
            <a:ext cx="3337560" cy="777240"/>
          </a:xfrm>
          <a:prstGeom prst="roundRect">
            <a:avLst/>
          </a:prstGeom>
          <a:solidFill>
            <a:srgbClr val="182745"/>
          </a:solidFill>
          <a:ln>
            <a:solidFill>
              <a:srgbClr val="3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3246120"/>
            <a:ext cx="64008" cy="777240"/>
          </a:xfrm>
          <a:prstGeom prst="rect">
            <a:avLst/>
          </a:prstGeom>
          <a:solidFill>
            <a:srgbClr val="2B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7" y="3410712"/>
            <a:ext cx="295351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Priyanshu Ruwali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7" y="3867912"/>
            <a:ext cx="2953512" cy="274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B8C5DC"/>
                </a:solidFill>
                <a:latin typeface="Aptos"/>
              </a:rPr>
              <a:t>Team Member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434840"/>
            <a:ext cx="1828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34D3DC"/>
                </a:solidFill>
                <a:latin typeface="Aptos"/>
              </a:rPr>
              <a:t>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00600"/>
            <a:ext cx="6766560" cy="12344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Build a working upload-and-result prototype.</a:t>
            </a:r>
          </a:p>
          <a:p>
            <a:pPr>
              <a:spcAft>
                <a:spcPts val="7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Evaluate with labeled samples and document limitations.</a:t>
            </a:r>
          </a:p>
          <a:p>
            <a:pPr>
              <a:spcAft>
                <a:spcPts val="7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Polish the demo and prepare a short explanation.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800600"/>
            <a:ext cx="27432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200" b="1">
                <a:solidFill>
                  <a:srgbClr val="F5F8FF"/>
                </a:solidFill>
                <a:latin typeface="Aptos"/>
              </a:rPr>
              <a:t>VoiceGuard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5303520"/>
            <a:ext cx="3474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34D3DC"/>
                </a:solidFill>
                <a:latin typeface="Aptos"/>
              </a:rPr>
              <a:t>Listen carefully. Verify independently.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